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bd9f7ec96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bd9f7ec96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bd9f7ec96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bd9f7ec96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bd9f7ec96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bd9f7ec96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bd9f7ec96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bd9f7ec96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bd9f7ec96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bd9f7ec96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bf46791a8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bf46791a8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bf46791a8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bf46791a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bf46791a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bf46791a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bf46791a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bf46791a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bf46791a8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bf46791a8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Cyclists at Cyclistics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714325"/>
            <a:ext cx="76881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Author: </a:t>
            </a:r>
            <a:r>
              <a:rPr lang="en-GB"/>
              <a:t>Antonio Colantuono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Last update: </a:t>
            </a:r>
            <a:r>
              <a:rPr lang="en-GB"/>
              <a:t>December 20th,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Purpose of the analysis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What is the data telling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Conclusions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25" y="1329475"/>
            <a:ext cx="7941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the purpose of the analysis?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500"/>
              <a:t>Identify how </a:t>
            </a:r>
            <a:r>
              <a:rPr b="1" lang="en-GB" sz="1500">
                <a:solidFill>
                  <a:srgbClr val="4A86E8"/>
                </a:solidFill>
              </a:rPr>
              <a:t>members</a:t>
            </a:r>
            <a:r>
              <a:rPr b="1" lang="en-GB" sz="1500">
                <a:solidFill>
                  <a:schemeClr val="accent2"/>
                </a:solidFill>
              </a:rPr>
              <a:t> </a:t>
            </a:r>
            <a:r>
              <a:rPr lang="en-GB" sz="1500"/>
              <a:t>and </a:t>
            </a:r>
            <a:r>
              <a:rPr b="1" lang="en-GB" sz="1500">
                <a:solidFill>
                  <a:srgbClr val="FF9900"/>
                </a:solidFill>
              </a:rPr>
              <a:t>casuals</a:t>
            </a:r>
            <a:r>
              <a:rPr b="1" lang="en-GB" sz="1500">
                <a:solidFill>
                  <a:schemeClr val="accent3"/>
                </a:solidFill>
              </a:rPr>
              <a:t> </a:t>
            </a:r>
            <a:r>
              <a:rPr lang="en-GB" sz="1500"/>
              <a:t>differ in the way they use </a:t>
            </a:r>
            <a:r>
              <a:rPr b="1" lang="en-GB" sz="1500"/>
              <a:t>Cyclistics</a:t>
            </a:r>
            <a:r>
              <a:rPr lang="en-GB" sz="1500"/>
              <a:t> service through the analysis of the company’s last twelve months of historical data.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the data telling?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9450" y="14024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Monthly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29450" y="2078875"/>
            <a:ext cx="3053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>
                <a:solidFill>
                  <a:srgbClr val="FF9900"/>
                </a:solidFill>
              </a:rPr>
              <a:t>Casuals’</a:t>
            </a:r>
            <a:r>
              <a:rPr lang="en-GB"/>
              <a:t> ride length is </a:t>
            </a:r>
            <a:r>
              <a:rPr b="1" lang="en-GB"/>
              <a:t>twice</a:t>
            </a:r>
            <a:r>
              <a:rPr lang="en-GB"/>
              <a:t> to </a:t>
            </a:r>
            <a:r>
              <a:rPr b="1" lang="en-GB"/>
              <a:t>three</a:t>
            </a:r>
            <a:r>
              <a:rPr lang="en-GB"/>
              <a:t> </a:t>
            </a:r>
            <a:r>
              <a:rPr b="1" lang="en-GB"/>
              <a:t>times</a:t>
            </a:r>
            <a:r>
              <a:rPr lang="en-GB"/>
              <a:t> as long as </a:t>
            </a:r>
            <a:r>
              <a:rPr b="1" lang="en-GB">
                <a:solidFill>
                  <a:srgbClr val="4A86E8"/>
                </a:solidFill>
              </a:rPr>
              <a:t>members’</a:t>
            </a:r>
            <a:r>
              <a:rPr lang="en-GB"/>
              <a:t> rides.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GB">
                <a:solidFill>
                  <a:srgbClr val="4A86E8"/>
                </a:solidFill>
              </a:rPr>
              <a:t>Members’</a:t>
            </a:r>
            <a:r>
              <a:rPr lang="en-GB"/>
              <a:t> rides</a:t>
            </a:r>
            <a:r>
              <a:rPr b="1" lang="en-GB"/>
              <a:t> </a:t>
            </a:r>
            <a:r>
              <a:rPr lang="en-GB"/>
              <a:t>are more </a:t>
            </a:r>
            <a:r>
              <a:rPr b="1" lang="en-GB"/>
              <a:t>spread out</a:t>
            </a:r>
            <a:r>
              <a:rPr lang="en-GB"/>
              <a:t> while </a:t>
            </a:r>
            <a:r>
              <a:rPr b="1" lang="en-GB">
                <a:solidFill>
                  <a:srgbClr val="FF9900"/>
                </a:solidFill>
              </a:rPr>
              <a:t>casuals’</a:t>
            </a:r>
            <a:r>
              <a:rPr lang="en-GB"/>
              <a:t> rides appear to be </a:t>
            </a:r>
            <a:r>
              <a:rPr b="1" lang="en-GB"/>
              <a:t>concentrated</a:t>
            </a:r>
            <a:r>
              <a:rPr lang="en-GB"/>
              <a:t> within may to september.</a:t>
            </a:r>
            <a:endParaRPr/>
          </a:p>
        </p:txBody>
      </p:sp>
      <p:pic>
        <p:nvPicPr>
          <p:cNvPr id="116" name="Google Shape;116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575" y="2782075"/>
            <a:ext cx="3819051" cy="236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575" y="489275"/>
            <a:ext cx="3819051" cy="2361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88763"/>
            <a:ext cx="3842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Weekly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65750"/>
            <a:ext cx="3234600" cy="32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665" lvl="0" marL="457200" rtl="0" algn="l">
              <a:spcBef>
                <a:spcPts val="0"/>
              </a:spcBef>
              <a:spcAft>
                <a:spcPts val="0"/>
              </a:spcAft>
              <a:buSzPts val="1308"/>
              <a:buChar char="●"/>
            </a:pPr>
            <a:r>
              <a:rPr b="1" lang="en-GB" sz="1308">
                <a:solidFill>
                  <a:srgbClr val="FF9900"/>
                </a:solidFill>
              </a:rPr>
              <a:t>Casuals’</a:t>
            </a:r>
            <a:r>
              <a:rPr lang="en-GB" sz="1308"/>
              <a:t> ride length is </a:t>
            </a:r>
            <a:r>
              <a:rPr b="1" lang="en-GB" sz="1308"/>
              <a:t>twice</a:t>
            </a:r>
            <a:r>
              <a:rPr lang="en-GB" sz="1308"/>
              <a:t> to </a:t>
            </a:r>
            <a:r>
              <a:rPr b="1" lang="en-GB" sz="1308"/>
              <a:t>three</a:t>
            </a:r>
            <a:r>
              <a:rPr lang="en-GB" sz="1308"/>
              <a:t> </a:t>
            </a:r>
            <a:r>
              <a:rPr b="1" lang="en-GB" sz="1308"/>
              <a:t>times</a:t>
            </a:r>
            <a:r>
              <a:rPr lang="en-GB" sz="1308"/>
              <a:t> as long as </a:t>
            </a:r>
            <a:r>
              <a:rPr b="1" lang="en-GB" sz="1308">
                <a:solidFill>
                  <a:srgbClr val="4A86E8"/>
                </a:solidFill>
              </a:rPr>
              <a:t>members’</a:t>
            </a:r>
            <a:r>
              <a:rPr lang="en-GB" sz="1308"/>
              <a:t> rides.</a:t>
            </a:r>
            <a:endParaRPr sz="1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8"/>
          </a:p>
          <a:p>
            <a:pPr indent="-311665" lvl="0" marL="457200" rtl="0" algn="l">
              <a:spcBef>
                <a:spcPts val="1200"/>
              </a:spcBef>
              <a:spcAft>
                <a:spcPts val="0"/>
              </a:spcAft>
              <a:buSzPts val="1308"/>
              <a:buChar char="●"/>
            </a:pPr>
            <a:r>
              <a:rPr b="1" lang="en-GB" sz="1308">
                <a:solidFill>
                  <a:srgbClr val="4A86E8"/>
                </a:solidFill>
              </a:rPr>
              <a:t>Members’</a:t>
            </a:r>
            <a:r>
              <a:rPr lang="en-GB" sz="1308"/>
              <a:t> rides appear to be almost </a:t>
            </a:r>
            <a:r>
              <a:rPr b="1" lang="en-GB" sz="1308"/>
              <a:t>double</a:t>
            </a:r>
            <a:r>
              <a:rPr lang="en-GB" sz="1308"/>
              <a:t> compared to </a:t>
            </a:r>
            <a:r>
              <a:rPr b="1" lang="en-GB" sz="1308">
                <a:solidFill>
                  <a:srgbClr val="FF9900"/>
                </a:solidFill>
              </a:rPr>
              <a:t>casuals’</a:t>
            </a:r>
            <a:r>
              <a:rPr lang="en-GB" sz="1308"/>
              <a:t> during </a:t>
            </a:r>
            <a:r>
              <a:rPr b="1" lang="en-GB" sz="1308"/>
              <a:t>weekdays</a:t>
            </a:r>
            <a:r>
              <a:rPr lang="en-GB" sz="1308"/>
              <a:t>. However, </a:t>
            </a:r>
            <a:r>
              <a:rPr b="1" lang="en-GB" sz="1308">
                <a:solidFill>
                  <a:srgbClr val="FF9900"/>
                </a:solidFill>
              </a:rPr>
              <a:t>casuals’</a:t>
            </a:r>
            <a:r>
              <a:rPr lang="en-GB" sz="1308">
                <a:solidFill>
                  <a:srgbClr val="FF9900"/>
                </a:solidFill>
              </a:rPr>
              <a:t> </a:t>
            </a:r>
            <a:r>
              <a:rPr lang="en-GB" sz="1308"/>
              <a:t>rides</a:t>
            </a:r>
            <a:r>
              <a:rPr b="1" lang="en-GB" sz="1308">
                <a:solidFill>
                  <a:srgbClr val="FF9900"/>
                </a:solidFill>
              </a:rPr>
              <a:t> </a:t>
            </a:r>
            <a:r>
              <a:rPr lang="en-GB" sz="1308"/>
              <a:t>are </a:t>
            </a:r>
            <a:r>
              <a:rPr b="1" lang="en-GB" sz="1308"/>
              <a:t>slightly </a:t>
            </a:r>
            <a:r>
              <a:rPr lang="en-GB" sz="1308"/>
              <a:t>more than </a:t>
            </a:r>
            <a:r>
              <a:rPr b="1" lang="en-GB" sz="1308">
                <a:solidFill>
                  <a:srgbClr val="4A86E8"/>
                </a:solidFill>
              </a:rPr>
              <a:t>members’</a:t>
            </a:r>
            <a:r>
              <a:rPr lang="en-GB" sz="1308">
                <a:solidFill>
                  <a:srgbClr val="4A86E8"/>
                </a:solidFill>
              </a:rPr>
              <a:t> </a:t>
            </a:r>
            <a:r>
              <a:rPr lang="en-GB" sz="1308"/>
              <a:t>during </a:t>
            </a:r>
            <a:r>
              <a:rPr b="1" lang="en-GB" sz="1308"/>
              <a:t>weekends.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6975" y="2819494"/>
            <a:ext cx="3762174" cy="232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825" y="493219"/>
            <a:ext cx="3762174" cy="232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89138"/>
            <a:ext cx="3842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3227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GB" sz="1308">
                <a:solidFill>
                  <a:srgbClr val="FF9900"/>
                </a:solidFill>
              </a:rPr>
              <a:t>Casuals’</a:t>
            </a:r>
            <a:r>
              <a:rPr lang="en-GB" sz="1308"/>
              <a:t> ride length is </a:t>
            </a:r>
            <a:r>
              <a:rPr b="1" lang="en-GB" sz="1308"/>
              <a:t>twice</a:t>
            </a:r>
            <a:r>
              <a:rPr lang="en-GB" sz="1308"/>
              <a:t> to </a:t>
            </a:r>
            <a:r>
              <a:rPr b="1" lang="en-GB" sz="1308"/>
              <a:t>three</a:t>
            </a:r>
            <a:r>
              <a:rPr lang="en-GB" sz="1308"/>
              <a:t> </a:t>
            </a:r>
            <a:r>
              <a:rPr b="1" lang="en-GB" sz="1308"/>
              <a:t>times</a:t>
            </a:r>
            <a:r>
              <a:rPr lang="en-GB" sz="1308"/>
              <a:t> as long as </a:t>
            </a:r>
            <a:r>
              <a:rPr b="1" lang="en-GB" sz="1308">
                <a:solidFill>
                  <a:srgbClr val="4A86E8"/>
                </a:solidFill>
              </a:rPr>
              <a:t>members’</a:t>
            </a:r>
            <a:r>
              <a:rPr lang="en-GB" sz="1308"/>
              <a:t> rides.</a:t>
            </a:r>
            <a:endParaRPr sz="1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8"/>
          </a:p>
          <a:p>
            <a:pPr indent="-311665" lvl="0" marL="457200" rtl="0" algn="l">
              <a:spcBef>
                <a:spcPts val="1200"/>
              </a:spcBef>
              <a:spcAft>
                <a:spcPts val="0"/>
              </a:spcAft>
              <a:buSzPts val="1308"/>
              <a:buChar char="●"/>
            </a:pPr>
            <a:r>
              <a:rPr lang="en-GB" sz="1308"/>
              <a:t>The difference between the amount of rides of </a:t>
            </a:r>
            <a:r>
              <a:rPr b="1" lang="en-GB" sz="1308">
                <a:solidFill>
                  <a:srgbClr val="4A86E8"/>
                </a:solidFill>
              </a:rPr>
              <a:t>members</a:t>
            </a:r>
            <a:r>
              <a:rPr lang="en-GB" sz="1308">
                <a:solidFill>
                  <a:srgbClr val="4A86E8"/>
                </a:solidFill>
              </a:rPr>
              <a:t> </a:t>
            </a:r>
            <a:r>
              <a:rPr lang="en-GB" sz="1308"/>
              <a:t>and </a:t>
            </a:r>
            <a:r>
              <a:rPr b="1" lang="en-GB" sz="1308">
                <a:solidFill>
                  <a:srgbClr val="FF9900"/>
                </a:solidFill>
              </a:rPr>
              <a:t>casuals</a:t>
            </a:r>
            <a:r>
              <a:rPr lang="en-GB" sz="1308">
                <a:solidFill>
                  <a:srgbClr val="FF9900"/>
                </a:solidFill>
              </a:rPr>
              <a:t> </a:t>
            </a:r>
            <a:r>
              <a:rPr lang="en-GB" sz="1308"/>
              <a:t>is the </a:t>
            </a:r>
            <a:r>
              <a:rPr b="1" lang="en-GB" sz="1308"/>
              <a:t>biggest</a:t>
            </a:r>
            <a:r>
              <a:rPr lang="en-GB" sz="1308"/>
              <a:t> during the morning (6-12).</a:t>
            </a:r>
            <a:endParaRPr sz="1308"/>
          </a:p>
        </p:txBody>
      </p:sp>
      <p:pic>
        <p:nvPicPr>
          <p:cNvPr id="132" name="Google Shape;132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100" y="507900"/>
            <a:ext cx="3715950" cy="22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975" y="2805575"/>
            <a:ext cx="3781005" cy="23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to take away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325" y="2078875"/>
            <a:ext cx="2453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FF9900"/>
                </a:solidFill>
              </a:rPr>
              <a:t>Casuals’</a:t>
            </a:r>
            <a:r>
              <a:rPr lang="en-GB">
                <a:solidFill>
                  <a:srgbClr val="FF9900"/>
                </a:solidFill>
              </a:rPr>
              <a:t> </a:t>
            </a:r>
            <a:r>
              <a:rPr lang="en-GB"/>
              <a:t>rides appear to increase during weekends and summer in contrast with </a:t>
            </a:r>
            <a:r>
              <a:rPr b="1" lang="en-GB">
                <a:solidFill>
                  <a:srgbClr val="4A86E8"/>
                </a:solidFill>
              </a:rPr>
              <a:t>members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/>
              <a:t>whose rides are more during the weekdays and the rest of the year.</a:t>
            </a:r>
            <a:endParaRPr/>
          </a:p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3450200" y="2078875"/>
            <a:ext cx="237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FF9900"/>
                </a:solidFill>
              </a:rPr>
              <a:t>Casuals’</a:t>
            </a:r>
            <a:r>
              <a:rPr lang="en-GB">
                <a:solidFill>
                  <a:schemeClr val="accent3"/>
                </a:solidFill>
              </a:rPr>
              <a:t> </a:t>
            </a:r>
            <a:r>
              <a:rPr lang="en-GB"/>
              <a:t>ride length is bigger compared to </a:t>
            </a:r>
            <a:r>
              <a:rPr b="1" lang="en-GB">
                <a:solidFill>
                  <a:srgbClr val="4A86E8"/>
                </a:solidFill>
              </a:rPr>
              <a:t>members’</a:t>
            </a:r>
            <a:r>
              <a:rPr lang="en-GB"/>
              <a:t>.</a:t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6141500" y="2037850"/>
            <a:ext cx="2498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Casuals</a:t>
            </a:r>
            <a:r>
              <a:rPr b="1" lang="en-GB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b="1" lang="en-GB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members</a:t>
            </a:r>
            <a:r>
              <a:rPr b="1" lang="en-GB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profiles appear to be definitely different.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Further analysis could take place with the help of surveys to better understand the behavior of </a:t>
            </a:r>
            <a:r>
              <a:rPr b="1" lang="en-GB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casuals</a:t>
            </a:r>
            <a:r>
              <a:rPr lang="en-GB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 order to create an offer that suits their needs the best.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